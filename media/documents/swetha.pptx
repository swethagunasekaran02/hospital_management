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3"/>
    <p:sldId id="287" r:id="rId4"/>
    <p:sldId id="257" r:id="rId5"/>
    <p:sldId id="288" r:id="rId6"/>
    <p:sldId id="289" r:id="rId7"/>
    <p:sldId id="290" r:id="rId8"/>
    <p:sldId id="259" r:id="rId9"/>
    <p:sldId id="261" r:id="rId10"/>
    <p:sldId id="263" r:id="rId11"/>
    <p:sldId id="264" r:id="rId12"/>
    <p:sldId id="265" r:id="rId13"/>
    <p:sldId id="272" r:id="rId14"/>
    <p:sldId id="266" r:id="rId15"/>
    <p:sldId id="267" r:id="rId16"/>
    <p:sldId id="280" r:id="rId17"/>
    <p:sldId id="273" r:id="rId18"/>
    <p:sldId id="274" r:id="rId19"/>
    <p:sldId id="275" r:id="rId20"/>
    <p:sldId id="276" r:id="rId21"/>
    <p:sldId id="277" r:id="rId22"/>
    <p:sldId id="27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635" y="481330"/>
            <a:ext cx="12192635" cy="4241800"/>
          </a:xfrm>
        </p:spPr>
        <p:txBody>
          <a:bodyPr/>
          <a:p>
            <a:pPr algn="ctr"/>
            <a:r>
              <a:rPr lang="en-IN" altLang="en-US" sz="2800" b="1">
                <a:ln>
                  <a:solidFill>
                    <a:sysClr val="windowText" lastClr="000000"/>
                  </a:solidFill>
                </a:ln>
                <a:solidFill>
                  <a:schemeClr val="tx1"/>
                </a:solidFill>
                <a:sym typeface="+mn-ea"/>
              </a:rPr>
              <a:t>      BLOCKCHAIN FOR HEALTH DATA SECURIT  </a:t>
            </a:r>
            <a:br>
              <a:rPr lang="en-IN" altLang="en-US" sz="2800" b="1">
                <a:ln>
                  <a:solidFill>
                    <a:sysClr val="windowText" lastClr="000000"/>
                  </a:solidFill>
                </a:ln>
                <a:solidFill>
                  <a:schemeClr val="tx1"/>
                </a:solidFill>
                <a:sym typeface="+mn-ea"/>
              </a:rPr>
            </a:br>
            <a:r>
              <a:rPr lang="en-IN" altLang="en-US" sz="2800" b="1">
                <a:ln>
                  <a:solidFill>
                    <a:sysClr val="windowText" lastClr="000000"/>
                  </a:solidFill>
                </a:ln>
                <a:solidFill>
                  <a:schemeClr val="tx1"/>
                </a:solidFill>
                <a:sym typeface="+mn-ea"/>
              </a:rPr>
              <a:t>AND TRANSPARENCY</a:t>
            </a:r>
            <a:br>
              <a:rPr lang="en-IN" altLang="en-US" sz="2800" b="1">
                <a:ln>
                  <a:solidFill>
                    <a:sysClr val="windowText" lastClr="000000"/>
                  </a:solidFill>
                </a:ln>
                <a:solidFill>
                  <a:schemeClr val="tx1"/>
                </a:solidFill>
                <a:sym typeface="+mn-ea"/>
              </a:rPr>
            </a:br>
            <a:br>
              <a:rPr lang="en-IN" altLang="en-US" sz="2800" b="1">
                <a:ln>
                  <a:solidFill>
                    <a:sysClr val="windowText" lastClr="000000"/>
                  </a:solidFill>
                </a:ln>
                <a:solidFill>
                  <a:schemeClr val="tx1"/>
                </a:solidFill>
                <a:sym typeface="+mn-ea"/>
              </a:rPr>
            </a:br>
            <a:r>
              <a:rPr lang="en-IN" altLang="en-US" sz="2800">
                <a:solidFill>
                  <a:schemeClr val="tx1"/>
                </a:solidFill>
                <a:sym typeface="+mn-ea"/>
              </a:rPr>
              <a:t>              </a:t>
            </a:r>
            <a:r>
              <a:rPr lang="en-IN" altLang="en-US" sz="2800" u="sng">
                <a:ln>
                  <a:solidFill>
                    <a:sysClr val="windowText" lastClr="000000"/>
                  </a:solidFill>
                </a:ln>
                <a:solidFill>
                  <a:schemeClr val="tx1"/>
                </a:solidFill>
                <a:sym typeface="+mn-ea"/>
              </a:rPr>
              <a:t>PROJECT VIVA VOCE PERSENTATION</a:t>
            </a:r>
            <a:br>
              <a:rPr lang="en-IN" altLang="en-US" sz="2800" u="sng">
                <a:ln>
                  <a:solidFill>
                    <a:sysClr val="windowText" lastClr="000000"/>
                  </a:solidFill>
                </a:ln>
                <a:sym typeface="+mn-ea"/>
              </a:rPr>
            </a:br>
            <a:br>
              <a:rPr lang="en-IN" altLang="en-US" sz="2800" u="sng">
                <a:ln>
                  <a:solidFill>
                    <a:sysClr val="windowText" lastClr="000000"/>
                  </a:solidFill>
                </a:ln>
                <a:sym typeface="+mn-ea"/>
              </a:rPr>
            </a:br>
            <a:r>
              <a:rPr lang="en-IN" altLang="en-US" sz="2800" b="1" i="1" u="sng">
                <a:solidFill>
                  <a:schemeClr val="tx1"/>
                </a:solidFill>
                <a:sym typeface="+mn-ea"/>
              </a:rPr>
              <a:t>Submittted by</a:t>
            </a:r>
            <a:br>
              <a:rPr lang="en-IN" altLang="en-US" sz="2800" b="1" i="1" u="sng">
                <a:solidFill>
                  <a:schemeClr val="tx1"/>
                </a:solidFill>
                <a:sym typeface="+mn-ea"/>
              </a:rPr>
            </a:br>
            <a:r>
              <a:rPr lang="en-IN" altLang="en-US" sz="2000">
                <a:solidFill>
                  <a:schemeClr val="tx1"/>
                </a:solidFill>
                <a:sym typeface="+mn-ea"/>
              </a:rPr>
              <a:t>NAME: SWETHA  G</a:t>
            </a:r>
            <a:br>
              <a:rPr lang="en-IN" altLang="en-US" sz="2000">
                <a:solidFill>
                  <a:schemeClr val="tx1"/>
                </a:solidFill>
              </a:rPr>
            </a:br>
            <a:r>
              <a:rPr lang="en-IN" altLang="en-US" sz="2000">
                <a:solidFill>
                  <a:schemeClr val="tx1"/>
                </a:solidFill>
                <a:sym typeface="+mn-ea"/>
              </a:rPr>
              <a:t>  REG NO: 2023551056</a:t>
            </a:r>
            <a:br>
              <a:rPr lang="en-IN" altLang="en-US" sz="2000">
                <a:solidFill>
                  <a:schemeClr val="tx1"/>
                </a:solidFill>
              </a:rPr>
            </a:br>
            <a:r>
              <a:rPr lang="en-IN" altLang="en-US" sz="2000">
                <a:solidFill>
                  <a:schemeClr val="tx1"/>
                </a:solidFill>
                <a:sym typeface="+mn-ea"/>
              </a:rPr>
              <a:t>    II MSC Computer Science</a:t>
            </a:r>
            <a:br>
              <a:rPr lang="en-IN" altLang="en-US" sz="2000">
                <a:solidFill>
                  <a:schemeClr val="tx1"/>
                </a:solidFill>
                <a:sym typeface="+mn-ea"/>
              </a:rPr>
            </a:br>
            <a:r>
              <a:rPr lang="en-IN" altLang="en-US" sz="2000">
                <a:solidFill>
                  <a:schemeClr val="tx1"/>
                </a:solidFill>
                <a:sym typeface="+mn-ea"/>
              </a:rPr>
              <a:t>      Alagappa University</a:t>
            </a:r>
            <a:br>
              <a:rPr lang="en-IN" altLang="en-US" sz="2800">
                <a:solidFill>
                  <a:schemeClr val="tx1"/>
                </a:solidFill>
                <a:sym typeface="+mn-ea"/>
              </a:rPr>
            </a:br>
            <a:endParaRPr lang="en-IN" altLang="en-US" sz="2800" b="1" u="sng">
              <a:ln>
                <a:solidFill>
                  <a:sysClr val="windowText" lastClr="000000"/>
                </a:solidFill>
              </a:ln>
              <a:solidFill>
                <a:schemeClr val="tx1"/>
              </a:solidFill>
              <a:sym typeface="+mn-ea"/>
            </a:endParaRPr>
          </a:p>
        </p:txBody>
      </p:sp>
      <p:sp>
        <p:nvSpPr>
          <p:cNvPr id="3" name="Subtitle 2"/>
          <p:cNvSpPr>
            <a:spLocks noGrp="1"/>
          </p:cNvSpPr>
          <p:nvPr>
            <p:ph type="subTitle" idx="1"/>
          </p:nvPr>
        </p:nvSpPr>
        <p:spPr>
          <a:xfrm>
            <a:off x="617855" y="3185160"/>
            <a:ext cx="10949305" cy="1663700"/>
          </a:xfrm>
        </p:spPr>
        <p:txBody>
          <a:bodyPr/>
          <a:p>
            <a:endParaRPr lang="en-IN" altLang="en-US" sz="2800" b="1">
              <a:solidFill>
                <a:schemeClr val="tx1"/>
              </a:solidFill>
            </a:endParaRPr>
          </a:p>
          <a:p>
            <a:endParaRPr lang="en-IN" altLang="en-US" sz="2800" b="1">
              <a:solidFill>
                <a:schemeClr val="tx1"/>
              </a:solidFill>
            </a:endParaRPr>
          </a:p>
        </p:txBody>
      </p:sp>
      <p:pic>
        <p:nvPicPr>
          <p:cNvPr id="4" name="Picture 3"/>
          <p:cNvPicPr>
            <a:picLocks noChangeAspect="1"/>
          </p:cNvPicPr>
          <p:nvPr/>
        </p:nvPicPr>
        <p:blipFill>
          <a:blip r:embed="rId1"/>
          <a:stretch>
            <a:fillRect/>
          </a:stretch>
        </p:blipFill>
        <p:spPr>
          <a:xfrm>
            <a:off x="172085" y="194310"/>
            <a:ext cx="1857375" cy="1518285"/>
          </a:xfrm>
          <a:prstGeom prst="rect">
            <a:avLst/>
          </a:prstGeom>
        </p:spPr>
      </p:pic>
      <p:sp>
        <p:nvSpPr>
          <p:cNvPr id="6" name="Text Box 5"/>
          <p:cNvSpPr txBox="1"/>
          <p:nvPr/>
        </p:nvSpPr>
        <p:spPr>
          <a:xfrm>
            <a:off x="846455" y="4723130"/>
            <a:ext cx="9949815" cy="2006600"/>
          </a:xfrm>
          <a:prstGeom prst="rect">
            <a:avLst/>
          </a:prstGeom>
          <a:noFill/>
        </p:spPr>
        <p:txBody>
          <a:bodyPr wrap="square" rtlCol="0">
            <a:noAutofit/>
          </a:bodyPr>
          <a:p>
            <a:r>
              <a:rPr lang="en-IN" altLang="en-US" b="1" i="1" dirty="0">
                <a:solidFill>
                  <a:srgbClr val="000000"/>
                </a:solidFill>
                <a:effectLst/>
                <a:latin typeface="Times New Roman" panose="02020603050405020304" pitchFamily="18" charset="0"/>
                <a:ea typeface="Times New Roman" panose="02020603050405020304" pitchFamily="18" charset="0"/>
                <a:sym typeface="+mn-ea"/>
              </a:rPr>
              <a:t>                                                            </a:t>
            </a:r>
            <a:r>
              <a:rPr lang="en-IN" altLang="en-US" sz="2800" b="1" i="1" dirty="0">
                <a:solidFill>
                  <a:srgbClr val="000000"/>
                </a:solidFill>
                <a:effectLst/>
                <a:latin typeface="Times New Roman" panose="02020603050405020304" pitchFamily="18" charset="0"/>
                <a:ea typeface="Times New Roman" panose="02020603050405020304" pitchFamily="18" charset="0"/>
                <a:sym typeface="+mn-ea"/>
              </a:rPr>
              <a:t> </a:t>
            </a:r>
            <a:r>
              <a:rPr lang="en-US" sz="2800" b="1" i="1" u="sng" dirty="0">
                <a:solidFill>
                  <a:srgbClr val="000000"/>
                </a:solidFill>
                <a:effectLst/>
                <a:latin typeface="Times New Roman" panose="02020603050405020304" pitchFamily="18" charset="0"/>
                <a:ea typeface="Times New Roman" panose="02020603050405020304" pitchFamily="18" charset="0"/>
                <a:sym typeface="+mn-ea"/>
              </a:rPr>
              <a:t>Under the guidance of</a:t>
            </a:r>
            <a:endParaRPr lang="en-US" sz="2800" b="1" i="1" u="sng" dirty="0">
              <a:solidFill>
                <a:srgbClr val="000000"/>
              </a:solidFill>
              <a:effectLst/>
              <a:latin typeface="Times New Roman" panose="02020603050405020304" pitchFamily="18" charset="0"/>
              <a:ea typeface="Times New Roman" panose="02020603050405020304" pitchFamily="18" charset="0"/>
              <a:sym typeface="+mn-ea"/>
            </a:endParaRPr>
          </a:p>
          <a:p>
            <a:pPr marL="0" indent="0" algn="ctr">
              <a:buNone/>
            </a:pPr>
            <a:r>
              <a:rPr lang="en-IN" altLang="en-US" sz="2000">
                <a:sym typeface="+mn-ea"/>
              </a:rPr>
              <a:t>       </a:t>
            </a:r>
            <a:endParaRPr lang="en-IN" altLang="en-US" sz="2000">
              <a:sym typeface="+mn-ea"/>
            </a:endParaRPr>
          </a:p>
          <a:p>
            <a:pPr marL="0" indent="0" algn="ctr">
              <a:buNone/>
            </a:pPr>
            <a:r>
              <a:rPr lang="en-IN" altLang="en-US" sz="2000">
                <a:sym typeface="+mn-ea"/>
              </a:rPr>
              <a:t>                 Dr. T. MEYYAPPAN M.Sc., M.B.A. M.Tech., M. Phil.</a:t>
            </a:r>
            <a:endParaRPr lang="en-IN" altLang="en-US" sz="2000">
              <a:sym typeface="+mn-ea"/>
            </a:endParaRPr>
          </a:p>
          <a:p>
            <a:pPr marL="0" indent="0" algn="ctr">
              <a:buNone/>
            </a:pPr>
            <a:r>
              <a:rPr lang="en-IN" altLang="en-US" sz="2000">
                <a:sym typeface="+mn-ea"/>
              </a:rPr>
              <a:t>             Ph.D,Senior Professor and Chairperson</a:t>
            </a:r>
            <a:endParaRPr lang="en-IN" altLang="en-US" sz="2000">
              <a:sym typeface="+mn-ea"/>
            </a:endParaRPr>
          </a:p>
          <a:p>
            <a:pPr marL="0" indent="0" algn="ctr">
              <a:buNone/>
            </a:pPr>
            <a:r>
              <a:rPr lang="en-IN" altLang="en-US" sz="2000">
                <a:sym typeface="+mn-ea"/>
              </a:rPr>
              <a:t>   DEPARTMENT OF COMPUTER SCIENCE </a:t>
            </a:r>
            <a:endParaRPr lang="en-IN" altLang="en-US" sz="2000">
              <a:sym typeface="+mn-ea"/>
            </a:endParaRPr>
          </a:p>
          <a:p>
            <a:pPr marL="0" indent="0" algn="ctr">
              <a:buNone/>
            </a:pPr>
            <a:r>
              <a:rPr lang="en-IN" altLang="en-US" sz="2000">
                <a:sym typeface="+mn-ea"/>
              </a:rPr>
              <a:t>          ALAGAPPA UNIVERSITY</a:t>
            </a:r>
            <a:endParaRPr lang="en-IN" altLang="en-US" sz="2000">
              <a:sym typeface="+mn-ea"/>
            </a:endParaRPr>
          </a:p>
          <a:p>
            <a:pPr algn="ctr"/>
            <a:endParaRPr lang="en-IN" altLang="en-US">
              <a:solidFill>
                <a:schemeClr val="tx1"/>
              </a:solidFill>
            </a:endParaRPr>
          </a:p>
          <a:p>
            <a:br>
              <a:rPr lang="en-IN" dirty="0">
                <a:effectLst/>
                <a:latin typeface="Calibri" panose="020F0502020204030204" charset="0"/>
                <a:ea typeface="Calibri" panose="020F0502020204030204" charset="0"/>
                <a:sym typeface="+mn-ea"/>
              </a:rPr>
            </a:br>
            <a:endParaRPr lang="en-IN" altLang="en-US" dirty="0">
              <a:solidFill>
                <a:srgbClr val="000000"/>
              </a:solidFill>
              <a:effectLst/>
              <a:latin typeface="Times New Roman" panose="02020603050405020304" pitchFamily="18" charset="0"/>
              <a:ea typeface="Times New Roman" panose="02020603050405020304" pitchFamily="18" charset="0"/>
              <a:sym typeface="+mn-ea"/>
            </a:endParaRPr>
          </a:p>
        </p:txBody>
      </p:sp>
      <p:pic>
        <p:nvPicPr>
          <p:cNvPr id="7" name="Picture 6"/>
          <p:cNvPicPr>
            <a:picLocks noChangeAspect="1"/>
          </p:cNvPicPr>
          <p:nvPr/>
        </p:nvPicPr>
        <p:blipFill>
          <a:blip r:embed="rId2"/>
          <a:stretch>
            <a:fillRect/>
          </a:stretch>
        </p:blipFill>
        <p:spPr>
          <a:xfrm>
            <a:off x="10331450" y="194310"/>
            <a:ext cx="1651000" cy="1518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ABSTRACT</a:t>
            </a:r>
            <a:r>
              <a:rPr lang="en-IN" altLang="en-US" b="1"/>
              <a:t>:</a:t>
            </a:r>
            <a:endParaRPr lang="en-IN" altLang="en-US" b="1"/>
          </a:p>
        </p:txBody>
      </p:sp>
      <p:sp>
        <p:nvSpPr>
          <p:cNvPr id="3" name="Content Placeholder 2"/>
          <p:cNvSpPr>
            <a:spLocks noGrp="1"/>
          </p:cNvSpPr>
          <p:nvPr>
            <p:ph idx="1"/>
          </p:nvPr>
        </p:nvSpPr>
        <p:spPr>
          <a:xfrm>
            <a:off x="387985" y="1131570"/>
            <a:ext cx="10972800" cy="4953000"/>
          </a:xfrm>
        </p:spPr>
        <p:txBody>
          <a:bodyPr/>
          <a:p>
            <a:pPr>
              <a:buFont typeface="Wingdings" panose="05000000000000000000" charset="0"/>
              <a:buChar char="q"/>
            </a:pPr>
            <a:r>
              <a:rPr lang="en-US"/>
              <a:t>The current solution in healthcare for storing and sharing medical records is the ElectronicHealth Record (EHR) which is highly sensitive.</a:t>
            </a:r>
            <a:endParaRPr lang="en-US"/>
          </a:p>
          <a:p>
            <a:pPr>
              <a:buFont typeface="Wingdings" panose="05000000000000000000" charset="0"/>
              <a:buChar char="q"/>
            </a:pPr>
            <a:r>
              <a:rPr lang="en-US"/>
              <a:t> The majority of EHR data sharing is still done through</a:t>
            </a:r>
            <a:r>
              <a:rPr lang="en-IN" altLang="en-US"/>
              <a:t> </a:t>
            </a:r>
            <a:r>
              <a:rPr lang="en-US"/>
              <a:t>mail because shortage of trustable and reliable health data sharing mechanism.</a:t>
            </a:r>
            <a:endParaRPr lang="en-US"/>
          </a:p>
          <a:p>
            <a:pPr>
              <a:buFont typeface="Wingdings" panose="05000000000000000000" charset="0"/>
              <a:buChar char="q"/>
            </a:pPr>
            <a:r>
              <a:rPr lang="en-US"/>
              <a:t>This</a:t>
            </a:r>
            <a:r>
              <a:rPr lang="en-IN" altLang="en-US"/>
              <a:t> </a:t>
            </a:r>
            <a:r>
              <a:rPr lang="en-US"/>
              <a:t>leads to significant delays in the patient’s treatmen</a:t>
            </a:r>
            <a:r>
              <a:rPr lang="en-IN" altLang="en-US"/>
              <a:t>t</a:t>
            </a:r>
            <a:r>
              <a:rPr lang="en-US"/>
              <a:t> Blockchain has the potential</a:t>
            </a:r>
            <a:r>
              <a:rPr lang="en-IN" altLang="en-US"/>
              <a:t> </a:t>
            </a:r>
            <a:r>
              <a:rPr lang="en-US"/>
              <a:t>to improve healthcare by</a:t>
            </a:r>
            <a:r>
              <a:rPr lang="en-IN" altLang="en-US"/>
              <a:t> </a:t>
            </a:r>
            <a:r>
              <a:rPr lang="en-US"/>
              <a:t>putting the patient at the center</a:t>
            </a:r>
            <a:r>
              <a:rPr lang="en-IN" altLang="en-US"/>
              <a:t> </a:t>
            </a:r>
            <a:r>
              <a:rPr lang="en-US"/>
              <a:t>of</a:t>
            </a:r>
            <a:r>
              <a:rPr lang="en-IN" altLang="en-US"/>
              <a:t> </a:t>
            </a:r>
            <a:r>
              <a:rPr lang="en-US"/>
              <a:t>the system</a:t>
            </a:r>
            <a:r>
              <a:rPr lang="en-IN" altLang="en-US"/>
              <a:t> </a:t>
            </a:r>
            <a:r>
              <a:rPr lang="en-US"/>
              <a:t>and enhancing health</a:t>
            </a:r>
            <a:r>
              <a:rPr lang="en-IN" altLang="en-US"/>
              <a:t> </a:t>
            </a:r>
            <a:r>
              <a:rPr lang="en-US"/>
              <a:t>data</a:t>
            </a:r>
            <a:r>
              <a:rPr lang="en-IN" altLang="en-US"/>
              <a:t> </a:t>
            </a:r>
            <a:r>
              <a:rPr lang="en-US"/>
              <a:t>protection and interoperability</a:t>
            </a:r>
            <a:endParaRPr lang="en-US"/>
          </a:p>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04495" y="190500"/>
            <a:ext cx="10972800" cy="582613"/>
          </a:xfrm>
        </p:spPr>
        <p:txBody>
          <a:bodyPr/>
          <a:p>
            <a:r>
              <a:rPr lang="en-IN" altLang="en-US" b="1"/>
              <a:t>INTRODUCTION:</a:t>
            </a:r>
            <a:endParaRPr lang="en-IN" altLang="en-US" b="1"/>
          </a:p>
        </p:txBody>
      </p:sp>
      <p:sp>
        <p:nvSpPr>
          <p:cNvPr id="3" name="Content Placeholder 2"/>
          <p:cNvSpPr>
            <a:spLocks noGrp="1"/>
          </p:cNvSpPr>
          <p:nvPr>
            <p:ph idx="1"/>
          </p:nvPr>
        </p:nvSpPr>
        <p:spPr>
          <a:xfrm>
            <a:off x="404495" y="1165860"/>
            <a:ext cx="10972800" cy="4953000"/>
          </a:xfrm>
        </p:spPr>
        <p:txBody>
          <a:bodyPr/>
          <a:p>
            <a:pPr algn="just">
              <a:buFont typeface="Wingdings" panose="05000000000000000000" charset="0"/>
              <a:buChar char="q"/>
            </a:pPr>
            <a:r>
              <a:rPr lang="en-IN" altLang="en-US"/>
              <a:t>The healthcare industry has witnessed rapid advancements in digital technologies, yet the secure and efficient exchange of medical records remains a critical challenge.</a:t>
            </a:r>
            <a:endParaRPr lang="en-IN" altLang="en-US"/>
          </a:p>
          <a:p>
            <a:pPr algn="just">
              <a:buFont typeface="Wingdings" panose="05000000000000000000" charset="0"/>
              <a:buChar char="q"/>
            </a:pPr>
            <a:r>
              <a:rPr lang="en-IN" altLang="en-US"/>
              <a:t>Electronic Health Records (EHRs) are the standard method for storing patient information.</a:t>
            </a:r>
            <a:endParaRPr lang="en-IN" altLang="en-US"/>
          </a:p>
          <a:p>
            <a:pPr algn="just">
              <a:buFont typeface="Wingdings" panose="05000000000000000000" charset="0"/>
              <a:buChar char="q"/>
            </a:pPr>
            <a:r>
              <a:rPr lang="en-IN" altLang="en-US"/>
              <a:t>However, due to concerns regarding data privacy, security, and lack of trustable data-sharing frameworks, many healthcare providers still rely on traditional methods like physical mail to share sensitive medical information.</a:t>
            </a:r>
            <a:endParaRPr lang="en-IN" altLang="en-US"/>
          </a:p>
          <a:p>
            <a:pPr algn="just">
              <a:buFont typeface="Wingdings" panose="05000000000000000000" charset="0"/>
              <a:buChar char="q"/>
            </a:pPr>
            <a:endParaRPr lang="en-I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buFont typeface="Wingdings" panose="05000000000000000000" charset="0"/>
              <a:buChar char="q"/>
            </a:pPr>
            <a:r>
              <a:rPr lang="en-IN" altLang="en-US">
                <a:sym typeface="+mn-ea"/>
              </a:rPr>
              <a:t>This results in delays in diagnosis, treatment, and overall patient care.</a:t>
            </a:r>
            <a:endParaRPr lang="en-IN" altLang="en-US">
              <a:sym typeface="+mn-ea"/>
            </a:endParaRPr>
          </a:p>
          <a:p>
            <a:pPr>
              <a:buFont typeface="Wingdings" panose="05000000000000000000" charset="0"/>
              <a:buChar char="q"/>
            </a:pPr>
            <a:endParaRPr lang="en-IN" altLang="en-US">
              <a:sym typeface="+mn-ea"/>
            </a:endParaRPr>
          </a:p>
          <a:p>
            <a:pPr>
              <a:buFont typeface="Wingdings" panose="05000000000000000000" charset="0"/>
              <a:buChar char="q"/>
            </a:pPr>
            <a:r>
              <a:rPr lang="en-IN" altLang="en-US">
                <a:sym typeface="+mn-ea"/>
              </a:rPr>
              <a:t>Blockchain technology has emerged as a promising solution to these challenges, offering a decentralized and transparent system that ensures data integrity, confidentiality, and secure access control.</a:t>
            </a:r>
            <a:endParaRPr lang="en-IN" altLang="en-US"/>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SYSTEM ANALYSIS</a:t>
            </a:r>
            <a:r>
              <a:rPr lang="en-IN" altLang="en-US" b="1"/>
              <a:t>:</a:t>
            </a:r>
            <a:endParaRPr lang="en-IN" altLang="en-US" b="1"/>
          </a:p>
        </p:txBody>
      </p:sp>
      <p:sp>
        <p:nvSpPr>
          <p:cNvPr id="3" name="Content Placeholder 2"/>
          <p:cNvSpPr>
            <a:spLocks noGrp="1"/>
          </p:cNvSpPr>
          <p:nvPr>
            <p:ph idx="1"/>
          </p:nvPr>
        </p:nvSpPr>
        <p:spPr/>
        <p:txBody>
          <a:bodyPr/>
          <a:p>
            <a:pPr marL="0" indent="0">
              <a:buNone/>
            </a:pPr>
            <a:r>
              <a:rPr lang="en-US" b="1"/>
              <a:t>HARDWARE SPECIFICATION</a:t>
            </a:r>
            <a:r>
              <a:rPr lang="en-IN" altLang="en-US" b="1"/>
              <a:t>:</a:t>
            </a:r>
            <a:endParaRPr lang="en-IN" altLang="en-US" b="1"/>
          </a:p>
        </p:txBody>
      </p:sp>
      <p:graphicFrame>
        <p:nvGraphicFramePr>
          <p:cNvPr id="4" name="Table 3"/>
          <p:cNvGraphicFramePr/>
          <p:nvPr/>
        </p:nvGraphicFramePr>
        <p:xfrm>
          <a:off x="1607185" y="2546350"/>
          <a:ext cx="8533130" cy="3581400"/>
        </p:xfrm>
        <a:graphic>
          <a:graphicData uri="http://schemas.openxmlformats.org/drawingml/2006/table">
            <a:tbl>
              <a:tblPr firstRow="1" bandRow="1">
                <a:tableStyleId>{5C22544A-7EE6-4342-B048-85BDC9FD1C3A}</a:tableStyleId>
              </a:tblPr>
              <a:tblGrid>
                <a:gridCol w="4266565"/>
                <a:gridCol w="4266565"/>
              </a:tblGrid>
              <a:tr h="596900">
                <a:tc>
                  <a:txBody>
                    <a:bodyPr/>
                    <a:p>
                      <a:pPr>
                        <a:buNone/>
                      </a:pPr>
                      <a:r>
                        <a:rPr lang="en-IN" altLang="en-US"/>
                        <a:t>               </a:t>
                      </a:r>
                      <a:r>
                        <a:rPr lang="en-IN" altLang="en-US" sz="2400"/>
                        <a:t> </a:t>
                      </a:r>
                      <a:r>
                        <a:rPr lang="en-US" sz="2400"/>
                        <a:t>System</a:t>
                      </a:r>
                      <a:endParaRPr lang="en-US" sz="2400"/>
                    </a:p>
                  </a:txBody>
                  <a:tcPr/>
                </a:tc>
                <a:tc>
                  <a:txBody>
                    <a:bodyPr/>
                    <a:p>
                      <a:pPr>
                        <a:buNone/>
                      </a:pPr>
                      <a:r>
                        <a:rPr lang="en-IN" altLang="en-US" sz="2400"/>
                        <a:t>    </a:t>
                      </a:r>
                      <a:r>
                        <a:rPr lang="en-US" sz="2400"/>
                        <a:t>PentiumIV2.4GHz</a:t>
                      </a:r>
                      <a:endParaRPr lang="en-US" sz="2400"/>
                    </a:p>
                  </a:txBody>
                  <a:tcPr/>
                </a:tc>
              </a:tr>
              <a:tr h="596900">
                <a:tc>
                  <a:txBody>
                    <a:bodyPr/>
                    <a:p>
                      <a:pPr>
                        <a:buNone/>
                      </a:pPr>
                      <a:r>
                        <a:rPr lang="en-IN" altLang="en-US" sz="2400"/>
                        <a:t>       </a:t>
                      </a:r>
                      <a:r>
                        <a:rPr lang="en-US" sz="2400"/>
                        <a:t>HardDisk </a:t>
                      </a:r>
                      <a:endParaRPr lang="en-US" sz="2400"/>
                    </a:p>
                  </a:txBody>
                  <a:tcPr/>
                </a:tc>
                <a:tc>
                  <a:txBody>
                    <a:bodyPr/>
                    <a:p>
                      <a:pPr>
                        <a:buNone/>
                      </a:pPr>
                      <a:r>
                        <a:rPr lang="en-US"/>
                        <a:t> </a:t>
                      </a:r>
                      <a:r>
                        <a:rPr lang="en-IN" altLang="en-US"/>
                        <a:t>   </a:t>
                      </a:r>
                      <a:r>
                        <a:rPr lang="en-US" sz="2400"/>
                        <a:t>40GB.</a:t>
                      </a:r>
                      <a:endParaRPr lang="en-US" sz="2400"/>
                    </a:p>
                  </a:txBody>
                  <a:tcPr/>
                </a:tc>
              </a:tr>
              <a:tr h="596900">
                <a:tc>
                  <a:txBody>
                    <a:bodyPr/>
                    <a:p>
                      <a:pPr>
                        <a:buNone/>
                      </a:pPr>
                      <a:r>
                        <a:rPr lang="en-IN" altLang="en-US" sz="2400"/>
                        <a:t>       </a:t>
                      </a:r>
                      <a:r>
                        <a:rPr lang="en-US" sz="2400"/>
                        <a:t>Monitor</a:t>
                      </a:r>
                      <a:endParaRPr lang="en-US" sz="2400"/>
                    </a:p>
                  </a:txBody>
                  <a:tcPr/>
                </a:tc>
                <a:tc>
                  <a:txBody>
                    <a:bodyPr/>
                    <a:p>
                      <a:pPr>
                        <a:buNone/>
                      </a:pPr>
                      <a:r>
                        <a:rPr lang="en-US"/>
                        <a:t> </a:t>
                      </a:r>
                      <a:r>
                        <a:rPr lang="en-IN" altLang="en-US"/>
                        <a:t>   </a:t>
                      </a:r>
                      <a:r>
                        <a:rPr lang="en-US" sz="2400"/>
                        <a:t>15inchVGAColor.</a:t>
                      </a:r>
                      <a:endParaRPr lang="en-US" sz="2400"/>
                    </a:p>
                  </a:txBody>
                  <a:tcPr/>
                </a:tc>
              </a:tr>
              <a:tr h="596900">
                <a:tc>
                  <a:txBody>
                    <a:bodyPr/>
                    <a:p>
                      <a:pPr>
                        <a:buNone/>
                      </a:pPr>
                      <a:r>
                        <a:rPr lang="en-IN" altLang="en-US" sz="2400"/>
                        <a:t>       </a:t>
                      </a:r>
                      <a:r>
                        <a:rPr lang="en-US" sz="2400"/>
                        <a:t>Mouse</a:t>
                      </a:r>
                      <a:endParaRPr lang="en-US" sz="2400"/>
                    </a:p>
                  </a:txBody>
                  <a:tcPr/>
                </a:tc>
                <a:tc>
                  <a:txBody>
                    <a:bodyPr/>
                    <a:p>
                      <a:pPr>
                        <a:buNone/>
                      </a:pPr>
                      <a:r>
                        <a:rPr lang="en-IN" altLang="en-US" sz="2400"/>
                        <a:t>    </a:t>
                      </a:r>
                      <a:r>
                        <a:rPr lang="en-US" sz="2400"/>
                        <a:t>LogitechMouse.</a:t>
                      </a:r>
                      <a:endParaRPr lang="en-US" sz="2400"/>
                    </a:p>
                  </a:txBody>
                  <a:tcPr/>
                </a:tc>
              </a:tr>
              <a:tr h="596900">
                <a:tc>
                  <a:txBody>
                    <a:bodyPr/>
                    <a:p>
                      <a:pPr>
                        <a:buNone/>
                      </a:pPr>
                      <a:r>
                        <a:rPr lang="en-IN" altLang="en-US" sz="2400"/>
                        <a:t>       </a:t>
                      </a:r>
                      <a:r>
                        <a:rPr lang="en-US" sz="2400"/>
                        <a:t>Ram</a:t>
                      </a:r>
                      <a:endParaRPr lang="en-US" sz="2400"/>
                    </a:p>
                  </a:txBody>
                  <a:tcPr/>
                </a:tc>
                <a:tc>
                  <a:txBody>
                    <a:bodyPr/>
                    <a:p>
                      <a:pPr>
                        <a:buNone/>
                      </a:pPr>
                      <a:r>
                        <a:rPr lang="en-IN" altLang="en-US" sz="2400"/>
                        <a:t>    </a:t>
                      </a:r>
                      <a:r>
                        <a:rPr lang="en-US" sz="2400"/>
                        <a:t>512MB</a:t>
                      </a:r>
                      <a:endParaRPr lang="en-US" sz="2400"/>
                    </a:p>
                  </a:txBody>
                  <a:tcPr/>
                </a:tc>
              </a:tr>
              <a:tr h="596900">
                <a:tc>
                  <a:txBody>
                    <a:bodyPr/>
                    <a:p>
                      <a:pPr>
                        <a:buNone/>
                      </a:pPr>
                      <a:r>
                        <a:rPr lang="en-IN" altLang="en-US" sz="2400"/>
                        <a:t>       </a:t>
                      </a:r>
                      <a:r>
                        <a:rPr lang="en-US" sz="2400"/>
                        <a:t>Keyboard</a:t>
                      </a:r>
                      <a:endParaRPr lang="en-US" sz="2400"/>
                    </a:p>
                  </a:txBody>
                  <a:tcPr/>
                </a:tc>
                <a:tc>
                  <a:txBody>
                    <a:bodyPr/>
                    <a:p>
                      <a:pPr>
                        <a:buNone/>
                      </a:pPr>
                      <a:r>
                        <a:rPr lang="en-IN" altLang="en-US" sz="2400"/>
                        <a:t>    </a:t>
                      </a:r>
                      <a:r>
                        <a:rPr lang="en-US" sz="2400"/>
                        <a:t>Standard Keyboard</a:t>
                      </a:r>
                      <a:endParaRPr lang="en-US" sz="2400"/>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SOFTWARE SPECIFICATION</a:t>
            </a:r>
            <a:r>
              <a:rPr lang="en-IN" altLang="en-US" b="1"/>
              <a:t>:</a:t>
            </a:r>
            <a:endParaRPr lang="en-IN" altLang="en-US" b="1"/>
          </a:p>
        </p:txBody>
      </p:sp>
      <p:graphicFrame>
        <p:nvGraphicFramePr>
          <p:cNvPr id="7" name="Content Placeholder 6"/>
          <p:cNvGraphicFramePr/>
          <p:nvPr>
            <p:ph idx="1"/>
          </p:nvPr>
        </p:nvGraphicFramePr>
        <p:xfrm>
          <a:off x="950595" y="1839595"/>
          <a:ext cx="9984105" cy="3911600"/>
        </p:xfrm>
        <a:graphic>
          <a:graphicData uri="http://schemas.openxmlformats.org/drawingml/2006/table">
            <a:tbl>
              <a:tblPr firstRow="1" bandRow="1">
                <a:tableStyleId>{5C22544A-7EE6-4342-B048-85BDC9FD1C3A}</a:tableStyleId>
              </a:tblPr>
              <a:tblGrid>
                <a:gridCol w="4881245"/>
                <a:gridCol w="5102860"/>
              </a:tblGrid>
              <a:tr h="914400">
                <a:tc>
                  <a:txBody>
                    <a:bodyPr/>
                    <a:p>
                      <a:pPr>
                        <a:buNone/>
                      </a:pPr>
                      <a:r>
                        <a:rPr lang="en-IN" altLang="en-US"/>
                        <a:t>     </a:t>
                      </a:r>
                      <a:endParaRPr lang="en-IN" altLang="en-US"/>
                    </a:p>
                    <a:p>
                      <a:pPr>
                        <a:buNone/>
                      </a:pPr>
                      <a:r>
                        <a:rPr lang="en-IN" altLang="en-US"/>
                        <a:t>          </a:t>
                      </a:r>
                      <a:r>
                        <a:rPr lang="en-IN" altLang="en-US" sz="2400"/>
                        <a:t> </a:t>
                      </a:r>
                      <a:r>
                        <a:rPr lang="en-US" sz="2400"/>
                        <a:t>OperatingSystem </a:t>
                      </a:r>
                      <a:endParaRPr lang="en-US" sz="2400"/>
                    </a:p>
                  </a:txBody>
                  <a:tcPr/>
                </a:tc>
                <a:tc>
                  <a:txBody>
                    <a:bodyPr/>
                    <a:p>
                      <a:pPr>
                        <a:buNone/>
                      </a:pPr>
                      <a:r>
                        <a:rPr lang="en-IN" altLang="en-US" sz="1800">
                          <a:sym typeface="+mn-ea"/>
                        </a:rPr>
                        <a:t>     </a:t>
                      </a:r>
                      <a:endParaRPr lang="en-IN" altLang="en-US" sz="1800">
                        <a:sym typeface="+mn-ea"/>
                      </a:endParaRPr>
                    </a:p>
                    <a:p>
                      <a:pPr>
                        <a:buNone/>
                      </a:pPr>
                      <a:r>
                        <a:rPr lang="en-IN" altLang="en-US" sz="1800">
                          <a:sym typeface="+mn-ea"/>
                        </a:rPr>
                        <a:t>             </a:t>
                      </a:r>
                      <a:r>
                        <a:rPr lang="en-IN" altLang="en-US" sz="2400">
                          <a:sym typeface="+mn-ea"/>
                        </a:rPr>
                        <a:t> </a:t>
                      </a:r>
                      <a:r>
                        <a:rPr lang="en-US" sz="2400">
                          <a:sym typeface="+mn-ea"/>
                        </a:rPr>
                        <a:t>WindowsXP</a:t>
                      </a:r>
                      <a:endParaRPr lang="en-US" sz="2400"/>
                    </a:p>
                    <a:p>
                      <a:pPr>
                        <a:buNone/>
                      </a:pPr>
                      <a:endParaRPr lang="en-US" sz="2400"/>
                    </a:p>
                  </a:txBody>
                  <a:tcPr/>
                </a:tc>
              </a:tr>
              <a:tr h="749300">
                <a:tc>
                  <a:txBody>
                    <a:bodyPr/>
                    <a:p>
                      <a:pPr>
                        <a:buNone/>
                      </a:pPr>
                      <a:r>
                        <a:rPr lang="en-IN" altLang="en-US" sz="2400">
                          <a:sym typeface="+mn-ea"/>
                        </a:rPr>
                        <a:t>            </a:t>
                      </a:r>
                      <a:r>
                        <a:rPr lang="en-US" sz="2400">
                          <a:sym typeface="+mn-ea"/>
                        </a:rPr>
                        <a:t>Platform</a:t>
                      </a:r>
                      <a:endParaRPr lang="en-US" sz="2400"/>
                    </a:p>
                  </a:txBody>
                  <a:tcPr/>
                </a:tc>
                <a:tc>
                  <a:txBody>
                    <a:bodyPr/>
                    <a:p>
                      <a:pPr>
                        <a:buNone/>
                      </a:pPr>
                      <a:r>
                        <a:rPr lang="en-IN" altLang="en-US" sz="2400">
                          <a:sym typeface="+mn-ea"/>
                        </a:rPr>
                        <a:t>    </a:t>
                      </a:r>
                      <a:r>
                        <a:rPr lang="en-US" sz="2400">
                          <a:sym typeface="+mn-ea"/>
                        </a:rPr>
                        <a:t>PYTHONTECHNOLOGY</a:t>
                      </a:r>
                      <a:endParaRPr lang="en-US" sz="2400"/>
                    </a:p>
                  </a:txBody>
                  <a:tcPr/>
                </a:tc>
              </a:tr>
              <a:tr h="749300">
                <a:tc>
                  <a:txBody>
                    <a:bodyPr/>
                    <a:p>
                      <a:pPr>
                        <a:buNone/>
                      </a:pPr>
                      <a:r>
                        <a:rPr lang="en-US" sz="2400"/>
                        <a:t> </a:t>
                      </a:r>
                      <a:r>
                        <a:rPr lang="en-IN" altLang="en-US" sz="2400"/>
                        <a:t>           </a:t>
                      </a:r>
                      <a:r>
                        <a:rPr lang="en-US" sz="2400"/>
                        <a:t>Tool </a:t>
                      </a:r>
                      <a:endParaRPr lang="en-US" sz="2400"/>
                    </a:p>
                    <a:p>
                      <a:pPr>
                        <a:buNone/>
                      </a:pPr>
                      <a:r>
                        <a:rPr lang="en-US"/>
                        <a:t></a:t>
                      </a:r>
                      <a:endParaRPr lang="en-US"/>
                    </a:p>
                  </a:txBody>
                  <a:tcPr/>
                </a:tc>
                <a:tc>
                  <a:txBody>
                    <a:bodyPr/>
                    <a:p>
                      <a:pPr>
                        <a:buNone/>
                      </a:pPr>
                      <a:r>
                        <a:rPr lang="en-IN" altLang="en-US" sz="2400">
                          <a:sym typeface="+mn-ea"/>
                        </a:rPr>
                        <a:t>    </a:t>
                      </a:r>
                      <a:r>
                        <a:rPr lang="en-US" sz="2400">
                          <a:sym typeface="+mn-ea"/>
                        </a:rPr>
                        <a:t>Python 3.6</a:t>
                      </a:r>
                      <a:endParaRPr lang="en-US" sz="2400"/>
                    </a:p>
                    <a:p>
                      <a:pPr>
                        <a:buNone/>
                      </a:pPr>
                      <a:endParaRPr lang="en-US" sz="2400"/>
                    </a:p>
                  </a:txBody>
                  <a:tcPr/>
                </a:tc>
              </a:tr>
              <a:tr h="749300">
                <a:tc>
                  <a:txBody>
                    <a:bodyPr/>
                    <a:p>
                      <a:pPr>
                        <a:buNone/>
                      </a:pPr>
                      <a:r>
                        <a:rPr lang="en-US" sz="2400">
                          <a:sym typeface="+mn-ea"/>
                        </a:rPr>
                        <a:t> </a:t>
                      </a:r>
                      <a:r>
                        <a:rPr lang="en-IN" altLang="en-US" sz="2400">
                          <a:sym typeface="+mn-ea"/>
                        </a:rPr>
                        <a:t>           </a:t>
                      </a:r>
                      <a:r>
                        <a:rPr lang="en-US" sz="2400">
                          <a:sym typeface="+mn-ea"/>
                        </a:rPr>
                        <a:t>FrontEnd </a:t>
                      </a:r>
                      <a:endParaRPr lang="en-US" sz="2400"/>
                    </a:p>
                  </a:txBody>
                  <a:tcPr/>
                </a:tc>
                <a:tc>
                  <a:txBody>
                    <a:bodyPr/>
                    <a:p>
                      <a:pPr>
                        <a:buNone/>
                      </a:pPr>
                      <a:r>
                        <a:rPr lang="en-IN" altLang="en-US" sz="2400">
                          <a:sym typeface="+mn-ea"/>
                        </a:rPr>
                        <a:t>    </a:t>
                      </a:r>
                      <a:r>
                        <a:rPr lang="en-US" sz="2400">
                          <a:sym typeface="+mn-ea"/>
                        </a:rPr>
                        <a:t>Pythonanaconda script</a:t>
                      </a:r>
                      <a:endParaRPr lang="en-US" sz="2400"/>
                    </a:p>
                    <a:p>
                      <a:pPr>
                        <a:buNone/>
                      </a:pPr>
                      <a:endParaRPr lang="en-US" sz="2400"/>
                    </a:p>
                  </a:txBody>
                  <a:tcPr/>
                </a:tc>
              </a:tr>
              <a:tr h="749300">
                <a:tc>
                  <a:txBody>
                    <a:bodyPr/>
                    <a:p>
                      <a:pPr>
                        <a:buNone/>
                      </a:pPr>
                      <a:r>
                        <a:rPr lang="en-US"/>
                        <a:t> </a:t>
                      </a:r>
                      <a:r>
                        <a:rPr lang="en-IN" altLang="en-US"/>
                        <a:t>               </a:t>
                      </a:r>
                      <a:r>
                        <a:rPr lang="en-US" sz="2400"/>
                        <a:t>BackEnd </a:t>
                      </a:r>
                      <a:endParaRPr lang="en-US" sz="2400"/>
                    </a:p>
                  </a:txBody>
                  <a:tcPr/>
                </a:tc>
                <a:tc>
                  <a:txBody>
                    <a:bodyPr/>
                    <a:p>
                      <a:pPr>
                        <a:buNone/>
                      </a:pPr>
                      <a:r>
                        <a:rPr lang="en-IN" altLang="en-US" sz="2400">
                          <a:sym typeface="+mn-ea"/>
                        </a:rPr>
                        <a:t>    </a:t>
                      </a:r>
                      <a:r>
                        <a:rPr lang="en-US" sz="2400">
                          <a:sym typeface="+mn-ea"/>
                        </a:rPr>
                        <a:t>Spyder</a:t>
                      </a:r>
                      <a:endParaRPr lang="en-US" sz="2400"/>
                    </a:p>
                    <a:p>
                      <a:pPr>
                        <a:buNone/>
                      </a:pPr>
                      <a:endParaRPr lang="en-US" sz="2400"/>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Existing System:</a:t>
            </a:r>
            <a:endParaRPr lang="en-US" b="1"/>
          </a:p>
        </p:txBody>
      </p:sp>
      <p:sp>
        <p:nvSpPr>
          <p:cNvPr id="3" name="Content Placeholder 2"/>
          <p:cNvSpPr>
            <a:spLocks noGrp="1"/>
          </p:cNvSpPr>
          <p:nvPr>
            <p:ph idx="1"/>
          </p:nvPr>
        </p:nvSpPr>
        <p:spPr>
          <a:xfrm>
            <a:off x="609600" y="1182370"/>
            <a:ext cx="10972800" cy="4953000"/>
          </a:xfrm>
        </p:spPr>
        <p:txBody>
          <a:bodyPr/>
          <a:p>
            <a:pPr>
              <a:buFont typeface="Wingdings" panose="05000000000000000000" charset="0"/>
              <a:buChar char="q"/>
            </a:pPr>
            <a:r>
              <a:rPr lang="en-US"/>
              <a:t>An EHR is an electronic version of a patient’s medical details. In current times, EHR is used to share patients’ medical records across various hospitals.  </a:t>
            </a:r>
            <a:endParaRPr lang="en-US"/>
          </a:p>
          <a:p>
            <a:pPr>
              <a:buFont typeface="Wingdings" panose="05000000000000000000" charset="0"/>
              <a:buChar char="q"/>
            </a:pPr>
            <a:r>
              <a:rPr lang="en-US"/>
              <a:t>EMR contains a patient’s medical diagnoses, allergies, history, treatment, and laboratory reports</a:t>
            </a:r>
            <a:r>
              <a:rPr lang="en-IN" altLang="en-US"/>
              <a:t>.</a:t>
            </a:r>
            <a:endParaRPr lang="en-IN" altLang="en-US"/>
          </a:p>
          <a:p>
            <a:pPr>
              <a:buFont typeface="Wingdings" panose="05000000000000000000" charset="0"/>
              <a:buChar char="q"/>
            </a:pPr>
            <a:r>
              <a:rPr lang="en-IN" altLang="en-US"/>
              <a:t> The healthcareIT standards that are used in EHR are Fast Healthcare Interoperability Resources (FHIR) and Health Level 7(HL7) to transfer clinical data between various applications that are used by different healthcare providers.</a:t>
            </a:r>
            <a:endParaRPr lang="en-IN" altLang="en-US"/>
          </a:p>
          <a:p>
            <a:pPr>
              <a:buFont typeface="Wingdings" panose="05000000000000000000" charset="0"/>
              <a:buChar char="q"/>
            </a:pPr>
            <a:endParaRPr lang="en-I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Proposed System:</a:t>
            </a:r>
            <a:endParaRPr lang="en-US" b="1"/>
          </a:p>
        </p:txBody>
      </p:sp>
      <p:sp>
        <p:nvSpPr>
          <p:cNvPr id="3" name="Content Placeholder 2"/>
          <p:cNvSpPr>
            <a:spLocks noGrp="1"/>
          </p:cNvSpPr>
          <p:nvPr>
            <p:ph idx="1"/>
          </p:nvPr>
        </p:nvSpPr>
        <p:spPr/>
        <p:txBody>
          <a:bodyPr/>
          <a:p>
            <a:pPr>
              <a:buFont typeface="Wingdings" panose="05000000000000000000" charset="0"/>
              <a:buChar char="q"/>
            </a:pPr>
            <a:r>
              <a:rPr lang="en-US"/>
              <a:t>Blockchain has the potential to improve health care by putting the patient at the center of the system and enhancing health data protection and interoperability</a:t>
            </a:r>
            <a:endParaRPr lang="en-US"/>
          </a:p>
          <a:p>
            <a:pPr>
              <a:buFont typeface="Wingdings" panose="05000000000000000000" charset="0"/>
              <a:buChar char="q"/>
            </a:pPr>
            <a:endParaRPr lang="en-US">
              <a:sym typeface="+mn-ea"/>
            </a:endParaRPr>
          </a:p>
          <a:p>
            <a:pPr>
              <a:buFont typeface="Wingdings" panose="05000000000000000000" charset="0"/>
              <a:buChar char="q"/>
            </a:pPr>
            <a:r>
              <a:rPr lang="en-US">
                <a:sym typeface="+mn-ea"/>
              </a:rPr>
              <a:t>It is highly efficient in the case when various participants want to access the same database. Thus, blockchain can minimize a lot of resources and costs to access the same database securely.</a:t>
            </a:r>
            <a:r>
              <a:rPr lang="en-US"/>
              <a:t>. </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Module Description:</a:t>
            </a:r>
            <a:endParaRPr lang="en-US" b="1"/>
          </a:p>
        </p:txBody>
      </p:sp>
      <p:sp>
        <p:nvSpPr>
          <p:cNvPr id="3" name="Content Placeholder 2"/>
          <p:cNvSpPr>
            <a:spLocks noGrp="1"/>
          </p:cNvSpPr>
          <p:nvPr>
            <p:ph idx="1"/>
          </p:nvPr>
        </p:nvSpPr>
        <p:spPr/>
        <p:txBody>
          <a:bodyPr/>
          <a:p>
            <a:pPr marL="0" indent="0">
              <a:buNone/>
            </a:pPr>
            <a:r>
              <a:rPr lang="en-IN" altLang="en-US" b="1"/>
              <a:t>HOSPITAL REGISTRATION:</a:t>
            </a:r>
            <a:endParaRPr lang="en-IN" altLang="en-US" b="1"/>
          </a:p>
          <a:p>
            <a:pPr>
              <a:buFont typeface="Wingdings" panose="05000000000000000000" charset="0"/>
              <a:buChar char="q"/>
            </a:pPr>
            <a:r>
              <a:rPr lang="en-IN" altLang="en-US"/>
              <a:t>The Hospital Registration Module is a critical component in the system that enables healthcare institutions such as hospitals, clinics, and diagnostic centers to securely register and join the blockchain network.</a:t>
            </a:r>
            <a:endParaRPr lang="en-IN" altLang="en-US"/>
          </a:p>
          <a:p>
            <a:pPr>
              <a:buFont typeface="Wingdings" panose="05000000000000000000" charset="0"/>
              <a:buChar char="q"/>
            </a:pPr>
            <a:endParaRPr lang="en-IN" altLang="en-US"/>
          </a:p>
          <a:p>
            <a:pPr>
              <a:buFont typeface="Wingdings" panose="05000000000000000000" charset="0"/>
              <a:buChar char="q"/>
            </a:pPr>
            <a:r>
              <a:rPr lang="en-IN" altLang="en-US"/>
              <a:t>This module ensures that only verified and trusted organizations can participate in accessing and managing patient data, preserving the integrity and confidentiality of </a:t>
            </a:r>
            <a:endParaRPr lang="en-IN" altLang="en-US"/>
          </a:p>
          <a:p>
            <a:pPr marL="0" indent="0">
              <a:buFont typeface="Wingdings" panose="05000000000000000000" charset="0"/>
              <a:buNone/>
            </a:pPr>
            <a:r>
              <a:rPr lang="en-IN" altLang="en-US"/>
              <a:t>   the health records.</a:t>
            </a:r>
            <a:endParaRPr lang="en-I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KeyFunctionsand Features:</a:t>
            </a:r>
            <a:endParaRPr lang="en-US" b="1"/>
          </a:p>
        </p:txBody>
      </p:sp>
      <p:sp>
        <p:nvSpPr>
          <p:cNvPr id="3" name="Content Placeholder 2"/>
          <p:cNvSpPr>
            <a:spLocks noGrp="1"/>
          </p:cNvSpPr>
          <p:nvPr>
            <p:ph idx="1"/>
          </p:nvPr>
        </p:nvSpPr>
        <p:spPr/>
        <p:txBody>
          <a:bodyPr/>
          <a:p>
            <a:pPr>
              <a:buFont typeface="Wingdings" panose="05000000000000000000" charset="0"/>
              <a:buChar char="q"/>
            </a:pPr>
            <a:r>
              <a:rPr lang="en-IN" altLang="en-US"/>
              <a:t>   Secure On boarding Process</a:t>
            </a:r>
            <a:endParaRPr lang="en-IN" altLang="en-US"/>
          </a:p>
          <a:p>
            <a:pPr>
              <a:buFont typeface="Wingdings" panose="05000000000000000000" charset="0"/>
              <a:buChar char="q"/>
            </a:pPr>
            <a:r>
              <a:rPr lang="en-IN" altLang="en-US"/>
              <a:t>   Role Assignment</a:t>
            </a:r>
            <a:endParaRPr lang="en-IN" altLang="en-US"/>
          </a:p>
          <a:p>
            <a:pPr>
              <a:buFont typeface="Wingdings" panose="05000000000000000000" charset="0"/>
              <a:buChar char="q"/>
            </a:pPr>
            <a:r>
              <a:rPr lang="en-IN" altLang="en-US"/>
              <a:t>   Blockchain Enrollment</a:t>
            </a:r>
            <a:endParaRPr lang="en-IN" altLang="en-US"/>
          </a:p>
          <a:p>
            <a:pPr>
              <a:buFont typeface="Wingdings" panose="05000000000000000000" charset="0"/>
              <a:buChar char="q"/>
            </a:pPr>
            <a:r>
              <a:rPr lang="en-IN" altLang="en-US"/>
              <a:t>   Smart Contract Integration</a:t>
            </a:r>
            <a:endParaRPr lang="en-IN" altLang="en-US"/>
          </a:p>
          <a:p>
            <a:pPr>
              <a:buFont typeface="Wingdings" panose="05000000000000000000" charset="0"/>
              <a:buChar char="q"/>
            </a:pPr>
            <a:r>
              <a:rPr lang="en-IN" altLang="en-US"/>
              <a:t>   Login Credentials Generation</a:t>
            </a:r>
            <a:endParaRPr lang="en-I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CUSTOMER REGISTRATION</a:t>
            </a:r>
            <a:r>
              <a:rPr lang="en-IN" altLang="en-US" b="1"/>
              <a:t>:</a:t>
            </a:r>
            <a:endParaRPr lang="en-IN" altLang="en-US" b="1"/>
          </a:p>
        </p:txBody>
      </p:sp>
      <p:sp>
        <p:nvSpPr>
          <p:cNvPr id="3" name="Content Placeholder 2"/>
          <p:cNvSpPr>
            <a:spLocks noGrp="1"/>
          </p:cNvSpPr>
          <p:nvPr>
            <p:ph idx="1"/>
          </p:nvPr>
        </p:nvSpPr>
        <p:spPr/>
        <p:txBody>
          <a:bodyPr/>
          <a:p>
            <a:pPr>
              <a:buFont typeface="Wingdings" panose="05000000000000000000" charset="0"/>
              <a:buChar char="q"/>
            </a:pPr>
            <a:r>
              <a:rPr lang="en-US"/>
              <a:t>This module ensures that every patient has a unique identity, enabling them to manage their electronic health records (EHRs) and control access to theirpersonal data.</a:t>
            </a:r>
            <a:endParaRPr lang="en-US"/>
          </a:p>
          <a:p>
            <a:pPr>
              <a:buFont typeface="Wingdings" panose="05000000000000000000" charset="0"/>
              <a:buChar char="q"/>
            </a:pPr>
            <a:endParaRPr lang="en-IN" altLang="en-US"/>
          </a:p>
          <a:p>
            <a:pPr>
              <a:buFont typeface="Wingdings" panose="05000000000000000000" charset="0"/>
              <a:buChar char="q"/>
            </a:pPr>
            <a:r>
              <a:rPr lang="en-IN" altLang="en-US"/>
              <a:t>During registration, the system collects essential information such as the patient’s name, date of birth, contact number, email, and government-issued ID.</a:t>
            </a:r>
            <a:endParaRPr lang="en-I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buFont typeface="Wingdings" panose="05000000000000000000" charset="0"/>
              <a:buChar char="q"/>
            </a:pPr>
            <a:r>
              <a:rPr lang="en-US"/>
              <a:t>Robust validation checks are implemented to ensure the authenticity and uniqueness of the submitted data, including email verification and password strength policies.</a:t>
            </a:r>
            <a:endParaRPr lang="en-US"/>
          </a:p>
          <a:p>
            <a:pPr>
              <a:buFont typeface="Wingdings" panose="05000000000000000000" charset="0"/>
              <a:buChar char="q"/>
            </a:pPr>
            <a:endParaRPr lang="en-US"/>
          </a:p>
          <a:p>
            <a:pPr>
              <a:buFont typeface="Wingdings" panose="05000000000000000000" charset="0"/>
              <a:buChar char="q"/>
            </a:pPr>
            <a:r>
              <a:rPr lang="en-US"/>
              <a:t>Once the registration formis successfully</a:t>
            </a:r>
            <a:r>
              <a:rPr lang="en-IN" altLang="en-US"/>
              <a:t> </a:t>
            </a:r>
            <a:r>
              <a:rPr lang="en-US"/>
              <a:t>submitted and verified, the user is assigned the “Patient” role in the</a:t>
            </a:r>
            <a:r>
              <a:rPr lang="en-IN" altLang="en-US"/>
              <a:t> </a:t>
            </a:r>
            <a:r>
              <a:rPr lang="en-US"/>
              <a:t>system.</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Advantage:</a:t>
            </a:r>
            <a:endParaRPr lang="en-US" b="1"/>
          </a:p>
        </p:txBody>
      </p:sp>
      <p:sp>
        <p:nvSpPr>
          <p:cNvPr id="3" name="Content Placeholder 2"/>
          <p:cNvSpPr>
            <a:spLocks noGrp="1"/>
          </p:cNvSpPr>
          <p:nvPr>
            <p:ph idx="1"/>
          </p:nvPr>
        </p:nvSpPr>
        <p:spPr/>
        <p:txBody>
          <a:bodyPr/>
          <a:p>
            <a:pPr>
              <a:buFont typeface="Wingdings" panose="05000000000000000000" charset="0"/>
              <a:buChar char="q"/>
            </a:pPr>
            <a:r>
              <a:rPr lang="en-US"/>
              <a:t>One of the major advantages of blockchain</a:t>
            </a:r>
            <a:r>
              <a:rPr lang="en-IN" altLang="en-US"/>
              <a:t>.</a:t>
            </a:r>
            <a:endParaRPr lang="en-IN" altLang="en-US"/>
          </a:p>
          <a:p>
            <a:pPr>
              <a:buFont typeface="Wingdings" panose="05000000000000000000" charset="0"/>
              <a:buChar char="q"/>
            </a:pPr>
            <a:r>
              <a:rPr lang="en-IN" altLang="en-US"/>
              <a:t> It stores data cryptographically encrypted via distributed and decentralized way in peers.</a:t>
            </a:r>
            <a:endParaRPr lang="en-IN" altLang="en-US"/>
          </a:p>
          <a:p>
            <a:pPr>
              <a:buFont typeface="Wingdings" panose="05000000000000000000" charset="0"/>
              <a:buChar char="q"/>
            </a:pPr>
            <a:r>
              <a:rPr lang="en-IN" altLang="en-US"/>
              <a:t> The next benefit of blockchain is immutability.</a:t>
            </a:r>
            <a:endParaRPr lang="en-IN" altLang="en-US"/>
          </a:p>
          <a:p>
            <a:pPr>
              <a:buFont typeface="Wingdings" panose="05000000000000000000" charset="0"/>
              <a:buChar char="q"/>
            </a:pPr>
            <a:r>
              <a:rPr lang="en-IN" altLang="en-US"/>
              <a:t> Automated smart contracts speed up insurance claims processing and reduce fraud.</a:t>
            </a:r>
            <a:endParaRPr lang="en-I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Disadvantage:</a:t>
            </a:r>
            <a:endParaRPr lang="en-US" b="1"/>
          </a:p>
        </p:txBody>
      </p:sp>
      <p:sp>
        <p:nvSpPr>
          <p:cNvPr id="3" name="Content Placeholder 2"/>
          <p:cNvSpPr>
            <a:spLocks noGrp="1"/>
          </p:cNvSpPr>
          <p:nvPr>
            <p:ph idx="1"/>
          </p:nvPr>
        </p:nvSpPr>
        <p:spPr/>
        <p:txBody>
          <a:bodyPr/>
          <a:p>
            <a:pPr>
              <a:buFont typeface="Wingdings" panose="05000000000000000000" charset="0"/>
              <a:buChar char="q"/>
            </a:pPr>
            <a:r>
              <a:rPr lang="en-IN" altLang="en-US"/>
              <a:t> It is a more energy-efficient version of PoW.</a:t>
            </a:r>
            <a:endParaRPr lang="en-IN" altLang="en-US"/>
          </a:p>
          <a:p>
            <a:pPr>
              <a:buFont typeface="Wingdings" panose="05000000000000000000" charset="0"/>
              <a:buChar char="q"/>
            </a:pPr>
            <a:r>
              <a:rPr lang="en-IN" altLang="en-US"/>
              <a:t> The disadvantage here is the monopoly, whenit comesto both technological and economic aspects of the scheme, the main stake holder has full influence and authority.</a:t>
            </a:r>
            <a:endParaRPr lang="en-IN" altLang="en-US"/>
          </a:p>
          <a:p>
            <a:pPr>
              <a:buFont typeface="Wingdings" panose="05000000000000000000" charset="0"/>
              <a:buChar char="q"/>
            </a:pPr>
            <a:r>
              <a:rPr lang="en-IN" altLang="en-US"/>
              <a:t> The transactions do not need several confirmations. (For example, in Bitcoin’sPoW</a:t>
            </a:r>
            <a:endParaRPr lang="en-IN" altLang="en-US"/>
          </a:p>
          <a:p>
            <a:pPr>
              <a:buFont typeface="Wingdings" panose="05000000000000000000" charset="0"/>
              <a:buChar char="q"/>
            </a:pPr>
            <a:r>
              <a:rPr lang="en-IN" altLang="en-US"/>
              <a:t> Confirmations will take anywhere from 10 to 60 minutes depending on how many individuals have to confirm the new block).</a:t>
            </a:r>
            <a:endParaRPr lang="en-I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FLOWCHART :</a:t>
            </a:r>
            <a:endParaRPr lang="en-IN" altLang="en-US" b="1"/>
          </a:p>
        </p:txBody>
      </p:sp>
      <p:pic>
        <p:nvPicPr>
          <p:cNvPr id="4" name="Content Placeholder 3"/>
          <p:cNvPicPr>
            <a:picLocks noChangeAspect="1"/>
          </p:cNvPicPr>
          <p:nvPr>
            <p:ph idx="1"/>
          </p:nvPr>
        </p:nvPicPr>
        <p:blipFill>
          <a:blip r:embed="rId1"/>
          <a:stretch>
            <a:fillRect/>
          </a:stretch>
        </p:blipFill>
        <p:spPr>
          <a:xfrm>
            <a:off x="2118995" y="1346200"/>
            <a:ext cx="6048375" cy="4953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SCREENSHOT:</a:t>
            </a:r>
            <a:endParaRPr lang="en-IN" altLang="en-US" b="1"/>
          </a:p>
        </p:txBody>
      </p:sp>
      <p:pic>
        <p:nvPicPr>
          <p:cNvPr id="50" name="Picture 50" descr="20"/>
          <p:cNvPicPr>
            <a:picLocks noChangeAspect="1"/>
          </p:cNvPicPr>
          <p:nvPr>
            <p:ph idx="1"/>
          </p:nvPr>
        </p:nvPicPr>
        <p:blipFill>
          <a:blip r:embed="rId1"/>
          <a:stretch>
            <a:fillRect/>
          </a:stretch>
        </p:blipFill>
        <p:spPr>
          <a:xfrm>
            <a:off x="2425065" y="1337310"/>
            <a:ext cx="7092950" cy="4597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31" name="Picture 31" descr="3"/>
          <p:cNvPicPr>
            <a:picLocks noChangeAspect="1"/>
          </p:cNvPicPr>
          <p:nvPr>
            <p:ph idx="1"/>
          </p:nvPr>
        </p:nvPicPr>
        <p:blipFill>
          <a:blip r:embed="rId1"/>
          <a:stretch>
            <a:fillRect/>
          </a:stretch>
        </p:blipFill>
        <p:spPr>
          <a:xfrm>
            <a:off x="1691005" y="1174750"/>
            <a:ext cx="8809355" cy="4953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32" name="Picture 32" descr="2"/>
          <p:cNvPicPr>
            <a:picLocks noChangeAspect="1"/>
          </p:cNvPicPr>
          <p:nvPr>
            <p:ph idx="1"/>
          </p:nvPr>
        </p:nvPicPr>
        <p:blipFill>
          <a:blip r:embed="rId1"/>
          <a:stretch>
            <a:fillRect/>
          </a:stretch>
        </p:blipFill>
        <p:spPr>
          <a:xfrm>
            <a:off x="421640" y="952500"/>
            <a:ext cx="6447155" cy="4953000"/>
          </a:xfrm>
          <a:prstGeom prst="rect">
            <a:avLst/>
          </a:prstGeom>
        </p:spPr>
      </p:pic>
      <p:pic>
        <p:nvPicPr>
          <p:cNvPr id="34" name="Picture 34" descr="5"/>
          <p:cNvPicPr>
            <a:picLocks noChangeAspect="1"/>
          </p:cNvPicPr>
          <p:nvPr/>
        </p:nvPicPr>
        <p:blipFill>
          <a:blip r:embed="rId2"/>
          <a:stretch>
            <a:fillRect/>
          </a:stretch>
        </p:blipFill>
        <p:spPr>
          <a:xfrm>
            <a:off x="7435850" y="1054735"/>
            <a:ext cx="3693795" cy="50660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38" name="Picture 38" descr="19"/>
          <p:cNvPicPr>
            <a:picLocks noChangeAspect="1"/>
          </p:cNvPicPr>
          <p:nvPr>
            <p:ph idx="1"/>
          </p:nvPr>
        </p:nvPicPr>
        <p:blipFill>
          <a:blip r:embed="rId1"/>
          <a:stretch>
            <a:fillRect/>
          </a:stretch>
        </p:blipFill>
        <p:spPr>
          <a:xfrm>
            <a:off x="1691005" y="1174750"/>
            <a:ext cx="8459470" cy="4953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39" name="Picture 39" descr="8"/>
          <p:cNvPicPr>
            <a:picLocks noChangeAspect="1"/>
          </p:cNvPicPr>
          <p:nvPr>
            <p:ph idx="1"/>
          </p:nvPr>
        </p:nvPicPr>
        <p:blipFill>
          <a:blip r:embed="rId1"/>
          <a:stretch>
            <a:fillRect/>
          </a:stretch>
        </p:blipFill>
        <p:spPr>
          <a:xfrm>
            <a:off x="1691005" y="1174750"/>
            <a:ext cx="8809355" cy="4953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4294967295"/>
          </p:nvPr>
        </p:nvSpPr>
        <p:spPr>
          <a:xfrm>
            <a:off x="-101600" y="768350"/>
            <a:ext cx="10972800" cy="4953000"/>
          </a:xfrm>
        </p:spPr>
        <p:txBody>
          <a:bodyPr/>
          <a:p>
            <a:endParaRPr lang="en-IN" altLang="en-US"/>
          </a:p>
          <a:p>
            <a:endParaRPr lang="en-IN" altLang="en-US"/>
          </a:p>
          <a:p>
            <a:endParaRPr lang="en-IN" altLang="en-US"/>
          </a:p>
          <a:p>
            <a:pPr marL="0" indent="0">
              <a:buNone/>
            </a:pPr>
            <a:r>
              <a:rPr lang="en-IN" altLang="en-US">
                <a:sym typeface="+mn-ea"/>
              </a:rPr>
              <a:t>                                         THANK YOU              </a:t>
            </a:r>
            <a:endParaRPr lang="en-IN" altLang="en-US"/>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5088</Words>
  <Application>WPS Presentation</Application>
  <PresentationFormat>Widescreen</PresentationFormat>
  <Paragraphs>150</Paragraphs>
  <Slides>21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SimSun</vt:lpstr>
      <vt:lpstr>Wingdings</vt:lpstr>
      <vt:lpstr>Times New Roman</vt:lpstr>
      <vt:lpstr>Calibri</vt:lpstr>
      <vt:lpstr>Wingdings</vt:lpstr>
      <vt:lpstr>Microsoft YaHei</vt:lpstr>
      <vt:lpstr>Arial Unicode MS</vt:lpstr>
      <vt:lpstr>Blue Waves</vt:lpstr>
      <vt:lpstr>      BLOCKCHAIN FOR HEALTH DATA SECURIT   AND TRANSPARENCY                PROJECT VIVA VOCE PERSENTATION  Submittted by NAME: SWETHA  G   REG NO: 2023551056     II MSC Computer Science       Alagappa University </vt:lpstr>
      <vt:lpstr>ABSTRACT:</vt:lpstr>
      <vt:lpstr>INTRODUCTION:</vt:lpstr>
      <vt:lpstr>PowerPoint 演示文稿</vt:lpstr>
      <vt:lpstr>SYSTEM ANALYSIS:</vt:lpstr>
      <vt:lpstr>SOFTWARE SPECIFICATION:</vt:lpstr>
      <vt:lpstr>Existing System:</vt:lpstr>
      <vt:lpstr>Proposed System:</vt:lpstr>
      <vt:lpstr>Module Description:</vt:lpstr>
      <vt:lpstr>KeyFunctionsand Features:</vt:lpstr>
      <vt:lpstr>CUSTOMER REGISTRATION:</vt:lpstr>
      <vt:lpstr>PowerPoint 演示文稿</vt:lpstr>
      <vt:lpstr>Advantage:</vt:lpstr>
      <vt:lpstr>Disadvantage:</vt:lpstr>
      <vt:lpstr>FLOWCHART :</vt:lpstr>
      <vt:lpstr>SCREENSHOT:</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FOR HEALTH DATA SECURITY AND TRANSPARENCY</dc:title>
  <dc:creator>ELCOT</dc:creator>
  <cp:lastModifiedBy>ELCOT</cp:lastModifiedBy>
  <cp:revision>17</cp:revision>
  <dcterms:created xsi:type="dcterms:W3CDTF">2025-03-01T14:35:00Z</dcterms:created>
  <dcterms:modified xsi:type="dcterms:W3CDTF">2025-04-29T00:59:59Z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04D5AB88E9E94BCCB5090A1584D7432A_11</vt:lpwstr>
  </property>
  <property fmtid="{D5CDD505-2E9C-101B-9397-08002B2CF9AE}" pid="3" name="KSOProductBuildVer">
    <vt:lpwstr>1033-12.2.0.13489</vt:lpwstr>
  </property>
</Properties>
</file>